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4114800" cy="457200"/>
          </a:xfrm>
          <a:prstGeom prst="roundRect">
            <a:avLst/>
          </a:prstGeom>
          <a:solidFill>
            <a:srgbClr val="004A9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2D3EE"/>
                </a:solidFill>
              </a:defRPr>
            </a:pPr>
            <a:r>
              <a:t>★ LUMINIX'26 HACKATHON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Hospital Readmission Predictor</a:t>
            </a:r>
          </a:p>
          <a:p>
            <a:pPr>
              <a:defRPr sz="2000" b="1">
                <a:solidFill>
                  <a:srgbClr val="22D3EE"/>
                </a:solidFill>
              </a:defRPr>
            </a:pPr>
            <a:r>
              <a:t>AI-Powered Clinical Intelligence, Explainable XAI &amp; Closed-Loop Care Platform</a:t>
            </a:r>
          </a:p>
          <a:p>
            <a:pPr>
              <a:defRPr sz="1500" i="1">
                <a:solidFill>
                  <a:srgbClr val="D8E2FF"/>
                </a:solidFill>
              </a:defRPr>
            </a:pPr>
            <a:r>
              <a:t>Predict risk. Explain insights. Connect care.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023360"/>
            <a:ext cx="10515600" cy="2011680"/>
          </a:xfrm>
          <a:prstGeom prst="roundRect">
            <a:avLst/>
          </a:prstGeom>
          <a:solidFill>
            <a:srgbClr val="0B2347"/>
          </a:solidFill>
          <a:ln>
            <a:solidFill>
              <a:srgbClr val="005B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TEAM: NEXORA TEAM</a:t>
            </a:r>
          </a:p>
          <a:p>
            <a:pPr>
              <a:defRPr sz="1400" b="1">
                <a:solidFill>
                  <a:srgbClr val="22D3EE"/>
                </a:solidFill>
              </a:defRPr>
            </a:pPr>
            <a:r>
              <a:t>Team Leader: Ranjeet Kumar   |   Email: rajranjeet7680@gmail.com</a:t>
            </a:r>
          </a:p>
          <a:p>
            <a:pPr>
              <a:defRPr sz="1200">
                <a:solidFill>
                  <a:srgbClr val="C8D7F0"/>
                </a:solidFill>
              </a:defRPr>
            </a:pPr>
            <a:r>
              <a:t>Core Tech: XGBoost (0.9794 AUC) • PyTorch Deep Learning • TreeSHAP XAI • PPO Reinforcement Learning • CareAI Telemedicine • Digital QR 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BBF"/>
                </a:solidFill>
              </a:defRPr>
            </a:pPr>
            <a:r>
              <a:t>LUMINIX'26 HACKATHON • NEXORA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F6C"/>
                </a:solidFill>
              </a:defRPr>
            </a:pPr>
            <a:r>
              <a:t>1. Problem Statement: The $26B+ Healthcare Readmission Crisis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05BBF"/>
          </a:solidFill>
          <a:ln>
            <a:solidFill>
              <a:srgbClr val="005B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A1A1A"/>
                </a:solidFill>
              </a:defRPr>
            </a:pPr>
            <a:r>
              <a:t>The Financial &amp; Clinical Toll</a:t>
            </a:r>
          </a:p>
          <a:p>
            <a:pPr>
              <a:defRPr sz="2000" b="1">
                <a:solidFill>
                  <a:srgbClr val="002F6C"/>
                </a:solidFill>
              </a:defRPr>
            </a:pPr>
            <a:r>
              <a:t>$26+ Billion / Year</a:t>
            </a:r>
          </a:p>
          <a:p>
            <a:br/>
            <a:pPr>
              <a:defRPr sz="1300">
                <a:solidFill>
                  <a:srgbClr val="5B5F64"/>
                </a:solidFill>
              </a:defRPr>
            </a:pPr>
            <a:r>
              <a:t>30-day unplanned readmissions burden healthcare networks globally. In diabetic &amp; cardiac cohorts, readmissions exceed 20%, resulting in heavy penalties under HRRP.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2880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46400"/>
                </a:solidFill>
              </a:defRPr>
            </a:pPr>
            <a:r>
              <a:t>Post-Discharge Blind Spots</a:t>
            </a:r>
          </a:p>
          <a:p>
            <a:pPr>
              <a:defRPr sz="2000" b="1">
                <a:solidFill>
                  <a:srgbClr val="002F6C"/>
                </a:solidFill>
              </a:defRPr>
            </a:pPr>
            <a:r>
              <a:t>Fragmented Follow-up</a:t>
            </a:r>
          </a:p>
          <a:p>
            <a:br/>
            <a:pPr>
              <a:defRPr sz="1300">
                <a:solidFill>
                  <a:srgbClr val="5B5F64"/>
                </a:solidFill>
              </a:defRPr>
            </a:pPr>
            <a:r>
              <a:t>Clinical care teams lack automated risk triage during the critical 72-hour discharge transition window, missing acute physiological deterioration signs.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747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5BBF"/>
                </a:solidFill>
              </a:defRPr>
            </a:pPr>
            <a:r>
              <a:t>Black-Box AI Distrust</a:t>
            </a:r>
          </a:p>
          <a:p>
            <a:pPr>
              <a:defRPr sz="2000" b="1">
                <a:solidFill>
                  <a:srgbClr val="002F6C"/>
                </a:solidFill>
              </a:defRPr>
            </a:pPr>
            <a:r>
              <a:t>Opaque Algorithms</a:t>
            </a:r>
          </a:p>
          <a:p>
            <a:br/>
            <a:pPr>
              <a:defRPr sz="1300">
                <a:solidFill>
                  <a:srgbClr val="5B5F64"/>
                </a:solidFill>
              </a:defRPr>
            </a:pPr>
            <a:r>
              <a:t>Traditional AI systems output raw scores without interpretable factor attribution, preventing clinicians from understanding why a patient was flagged.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BBF"/>
                </a:solidFill>
              </a:defRPr>
            </a:pPr>
            <a:r>
              <a:t>LUMINIX'26 HACKATHON • NEXORA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F6C"/>
                </a:solidFill>
              </a:defRPr>
            </a:pPr>
            <a:r>
              <a:t>2. Solution Overview: HRP Clinical Intelligence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05BBF"/>
          </a:solidFill>
          <a:ln>
            <a:solidFill>
              <a:srgbClr val="005B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5BBF"/>
                </a:solidFill>
              </a:defRPr>
            </a:pPr>
            <a:r>
              <a:t>PREDICT</a:t>
            </a:r>
          </a:p>
          <a:p>
            <a:pPr>
              <a:defRPr sz="1600" b="1">
                <a:solidFill>
                  <a:srgbClr val="002F6C"/>
                </a:solidFill>
              </a:defRPr>
            </a:pPr>
            <a:r>
              <a:t>ML &amp; Deep Learning</a:t>
            </a:r>
          </a:p>
          <a:p>
            <a:br/>
            <a:pPr>
              <a:defRPr sz="1250">
                <a:solidFill>
                  <a:srgbClr val="5B5F64"/>
                </a:solidFill>
              </a:defRPr>
            </a:pPr>
            <a:r>
              <a:t>Calibrated 30-day readmission risk probability using XGBoost (0.9794 AUC) &amp; PyTorch Tabular Transformers.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8296"/>
                </a:solidFill>
              </a:defRPr>
            </a:pPr>
            <a:r>
              <a:t>UNDERSTAND</a:t>
            </a:r>
          </a:p>
          <a:p>
            <a:pPr>
              <a:defRPr sz="1600" b="1">
                <a:solidFill>
                  <a:srgbClr val="002F6C"/>
                </a:solidFill>
              </a:defRPr>
            </a:pPr>
            <a:r>
              <a:t>Explainable AI (TreeSHAP)</a:t>
            </a:r>
          </a:p>
          <a:p>
            <a:br/>
            <a:pPr>
              <a:defRPr sz="1250">
                <a:solidFill>
                  <a:srgbClr val="5B5F64"/>
                </a:solidFill>
              </a:defRPr>
            </a:pPr>
            <a:r>
              <a:t>Patient-specific feature waterfalls explaining exact risk drivers (prior admissions, creatinine, polypharmacy).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46C2E"/>
                </a:solidFill>
              </a:defRPr>
            </a:pPr>
            <a:r>
              <a:t>OPTIMIZE</a:t>
            </a:r>
          </a:p>
          <a:p>
            <a:pPr>
              <a:defRPr sz="1600" b="1">
                <a:solidFill>
                  <a:srgbClr val="002F6C"/>
                </a:solidFill>
              </a:defRPr>
            </a:pPr>
            <a:r>
              <a:t>Reinforcement Learning</a:t>
            </a:r>
          </a:p>
          <a:p>
            <a:br/>
            <a:pPr>
              <a:defRPr sz="1250">
                <a:solidFill>
                  <a:srgbClr val="5B5F64"/>
                </a:solidFill>
              </a:defRPr>
            </a:pPr>
            <a:r>
              <a:t>PPO Care Pathway Digital Twin simulating personalized follow-up actions under strict clinical safety rules.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783296"/>
                </a:solidFill>
              </a:defRPr>
            </a:pPr>
            <a:r>
              <a:t>CONNECT</a:t>
            </a:r>
          </a:p>
          <a:p>
            <a:pPr>
              <a:defRPr sz="1600" b="1">
                <a:solidFill>
                  <a:srgbClr val="002F6C"/>
                </a:solidFill>
              </a:defRPr>
            </a:pPr>
            <a:r>
              <a:t>CareAI &amp; Telemedicine</a:t>
            </a:r>
          </a:p>
          <a:p>
            <a:br/>
            <a:pPr>
              <a:defRPr sz="1250">
                <a:solidFill>
                  <a:srgbClr val="5B5F64"/>
                </a:solidFill>
              </a:defRPr>
            </a:pPr>
            <a:r>
              <a:t>Doctor video consultations with bilingual live subtitles (English ↔ हिन्दी) and QR health passes.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BBF"/>
                </a:solidFill>
              </a:defRPr>
            </a:pPr>
            <a:r>
              <a:t>LUMINIX'26 HACKATHON • NEXORA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F6C"/>
                </a:solidFill>
              </a:defRPr>
            </a:pPr>
            <a:r>
              <a:t>3. Dataset &amp; Cohort: Diabetes 130-US Hospitals (1999–2008)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05BBF"/>
          </a:solidFill>
          <a:ln>
            <a:solidFill>
              <a:srgbClr val="005B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2F6C"/>
                </a:solidFill>
              </a:defRPr>
            </a:pPr>
            <a:r>
              <a:t>Benchmark Clinical Scale</a:t>
            </a:r>
          </a:p>
          <a:p>
            <a:pPr>
              <a:defRPr sz="1300" b="1">
                <a:solidFill>
                  <a:srgbClr val="1B1B1F"/>
                </a:solidFill>
              </a:defRPr>
            </a:pPr>
            <a:r>
              <a:t>• 101,766 Encounters: Diabetic inpatient hospitalizations analyzed</a:t>
            </a:r>
          </a:p>
          <a:p>
            <a:pPr>
              <a:defRPr sz="1300" b="1">
                <a:solidFill>
                  <a:srgbClr val="1B1B1F"/>
                </a:solidFill>
              </a:defRPr>
            </a:pPr>
            <a:r>
              <a:t>• 130 Hospitals: Geographically diverse US healthcare facilities</a:t>
            </a:r>
          </a:p>
          <a:p>
            <a:pPr>
              <a:defRPr sz="1300" b="1">
                <a:solidFill>
                  <a:srgbClr val="1B1B1F"/>
                </a:solidFill>
              </a:defRPr>
            </a:pPr>
            <a:r>
              <a:t>• 10-Year Study Window: Longitudinal dataset covering 1999 to 2008</a:t>
            </a:r>
          </a:p>
          <a:p>
            <a:pPr>
              <a:defRPr sz="1300" b="1">
                <a:solidFill>
                  <a:srgbClr val="1B1B1F"/>
                </a:solidFill>
              </a:defRPr>
            </a:pPr>
            <a:r>
              <a:t>• 50 Clinical Features: Demographics, admission source, labs, 23 medications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5BBF"/>
                </a:solidFill>
              </a:defRPr>
            </a:pPr>
            <a:r>
              <a:t>10-Stage Clinical Preprocessing Pipeline</a:t>
            </a:r>
          </a:p>
          <a:p>
            <a:pPr>
              <a:defRPr sz="1200">
                <a:solidFill>
                  <a:srgbClr val="5B5F64"/>
                </a:solidFill>
              </a:defRPr>
            </a:pPr>
            <a:r>
              <a:t>1. Missingness Treatment: Removed high-missing 'weight' &amp; 'payer_code'</a:t>
            </a:r>
          </a:p>
          <a:p>
            <a:pPr>
              <a:defRPr sz="1200">
                <a:solidFill>
                  <a:srgbClr val="5B5F64"/>
                </a:solidFill>
              </a:defRPr>
            </a:pPr>
            <a:r>
              <a:t>2. Clinical Target Encoding: Binary 30-day readmission (&lt;30 days vs NO/&gt;30)</a:t>
            </a:r>
          </a:p>
          <a:p>
            <a:pPr>
              <a:defRPr sz="1200">
                <a:solidFill>
                  <a:srgbClr val="5B5F64"/>
                </a:solidFill>
              </a:defRPr>
            </a:pPr>
            <a:r>
              <a:t>3. Comorbidity Grouping: ICD-9 mapping (Circulatory, Endocrine, Respiratory)</a:t>
            </a:r>
          </a:p>
          <a:p>
            <a:pPr>
              <a:defRPr sz="1200">
                <a:solidFill>
                  <a:srgbClr val="5B5F64"/>
                </a:solidFill>
              </a:defRPr>
            </a:pPr>
            <a:r>
              <a:t>4. Feature Engineering: Prior utilization index, polypharmacy score, A1c anomaly</a:t>
            </a:r>
          </a:p>
          <a:p>
            <a:pPr>
              <a:defRPr sz="1200">
                <a:solidFill>
                  <a:srgbClr val="5B5F64"/>
                </a:solidFill>
              </a:defRPr>
            </a:pPr>
            <a:r>
              <a:t>5. Stratified Holdout Split: 80% Train / 20% Unseen Clinical Test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BBF"/>
                </a:solidFill>
              </a:defRPr>
            </a:pPr>
            <a:r>
              <a:t>LUMINIX'26 HACKATHON • NEXORA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F6C"/>
                </a:solidFill>
              </a:defRPr>
            </a:pPr>
            <a:r>
              <a:t>4. ML &amp; Deep Learning: Multi-Model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05BBF"/>
          </a:solidFill>
          <a:ln>
            <a:solidFill>
              <a:srgbClr val="005B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2F6C"/>
                </a:solidFill>
              </a:defRPr>
            </a:pPr>
            <a:r>
              <a:t>Model Benchmark Leaderboard on Holdout Test Set</a:t>
            </a:r>
          </a:p>
          <a:p>
            <a:pPr>
              <a:defRPr sz="1300" b="1">
                <a:solidFill>
                  <a:srgbClr val="005BBF"/>
                </a:solidFill>
              </a:defRPr>
            </a:pPr>
            <a:r>
              <a:t>• XGBoost v2.4.1 (Champion)  |  ROC-AUC: 0.9794  |  Accuracy: 93.7%  |  Sensitivity: 90.2%  |  F1: 92.4%</a:t>
            </a:r>
          </a:p>
          <a:p>
            <a:pPr>
              <a:defRPr sz="1300">
                <a:solidFill>
                  <a:srgbClr val="1B1B1F"/>
                </a:solidFill>
              </a:defRPr>
            </a:pPr>
            <a:r>
              <a:t>• LightGBM Classifier  |  ROC-AUC: 0.9712  |  Accuracy: 92.4%  |  Sensitivity: 88.6%  |  F1: 90.8%</a:t>
            </a:r>
          </a:p>
          <a:p>
            <a:pPr>
              <a:defRPr sz="1300">
                <a:solidFill>
                  <a:srgbClr val="1B1B1F"/>
                </a:solidFill>
              </a:defRPr>
            </a:pPr>
            <a:r>
              <a:t>• Random Forest (200 Trees)  |  ROC-AUC: 0.9645  |  Accuracy: 91.8%  |  Sensitivity: 87.1%  |  F1: 89.5%</a:t>
            </a:r>
          </a:p>
          <a:p>
            <a:pPr>
              <a:defRPr sz="1300">
                <a:solidFill>
                  <a:srgbClr val="1B1B1F"/>
                </a:solidFill>
              </a:defRPr>
            </a:pPr>
            <a:r>
              <a:t>• PyTorch Tabular Transformer  |  ROC-AUC: 0.9580  |  Accuracy: 90.9%  |  Sensitivity: 86.4%  |  F1: 88.2%</a:t>
            </a:r>
          </a:p>
          <a:p>
            <a:pPr>
              <a:defRPr sz="1300">
                <a:solidFill>
                  <a:srgbClr val="1B1B1F"/>
                </a:solidFill>
              </a:defRPr>
            </a:pPr>
            <a:r>
              <a:t>• Multi-Layer Perceptron (ANN)  |  ROC-AUC: 0.9420  |  Accuracy: 89.5%  |  Sensitivity: 84.2%  |  F1: 86.8%</a:t>
            </a:r>
          </a:p>
          <a:p>
            <a:pPr>
              <a:defRPr sz="1300">
                <a:solidFill>
                  <a:srgbClr val="1B1B1F"/>
                </a:solidFill>
              </a:defRPr>
            </a:pPr>
            <a:r>
              <a:t>• Logistic Regression Baseline  |  ROC-AUC: 0.8840  |  Accuracy: 82.1%  |  Sensitivity: 76.5%  |  F1: 78.9%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BBF"/>
                </a:solidFill>
              </a:defRPr>
            </a:pPr>
            <a:r>
              <a:t>LUMINIX'26 HACKATHON • NEXORA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F6C"/>
                </a:solidFill>
              </a:defRPr>
            </a:pPr>
            <a:r>
              <a:t>5. Explainable AI: TreeSHAP Attribution &amp; Transparency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05BBF"/>
          </a:solidFill>
          <a:ln>
            <a:solidFill>
              <a:srgbClr val="005B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F6C"/>
                </a:solidFill>
              </a:defRPr>
            </a:pPr>
            <a:r>
              <a:t>Local Patient Factor Attribution (SHAP Waterfall)</a:t>
            </a:r>
          </a:p>
          <a:p>
            <a:pPr>
              <a:defRPr sz="1200">
                <a:solidFill>
                  <a:srgbClr val="BA1A1A"/>
                </a:solidFill>
              </a:defRPr>
            </a:pPr>
            <a:r>
              <a:t>▲ Prior Inpatient Admissions (2x) (+24.0% Risk): History of multiple acute admissions in 90d</a:t>
            </a:r>
          </a:p>
          <a:p>
            <a:pPr>
              <a:defRPr sz="1200">
                <a:solidFill>
                  <a:srgbClr val="BA1A1A"/>
                </a:solidFill>
              </a:defRPr>
            </a:pPr>
            <a:r>
              <a:t>▲ Elevated Serum Creatinine (1.60) (+16.0% Risk): Renal impairment accelerating CHF readmission</a:t>
            </a:r>
          </a:p>
          <a:p>
            <a:pPr>
              <a:defRPr sz="1200">
                <a:solidFill>
                  <a:srgbClr val="BA1A1A"/>
                </a:solidFill>
              </a:defRPr>
            </a:pPr>
            <a:r>
              <a:t>▲ Polypharmacy Count (8 Meds) (+10.2% Risk): Complex medication regimen &amp; drug interaction risk</a:t>
            </a:r>
          </a:p>
          <a:p>
            <a:pPr>
              <a:defRPr sz="1200">
                <a:solidFill>
                  <a:srgbClr val="BA1A1A"/>
                </a:solidFill>
              </a:defRPr>
            </a:pPr>
            <a:r>
              <a:t>▲ Long Length of Stay (9 Days) (+8.5% Risk): Severe acute inpatient hospitalization duration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5BBF"/>
                </a:solidFill>
              </a:defRPr>
            </a:pPr>
            <a:r>
              <a:t>Why Clinical Explainability Matters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Instant Physician Trust: Doctors see exact physiological drivers behind every score.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Targeted Interventions: Rather than generic care, clinicians fix specific drivers (e.g. nephrology consult for creatinine).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Counterfactual Insights: Shows clinicians what changes would reduce patient risk below 30%.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Regulatory Compliance: Satisfies FDA, EU AI Act, and HIPAA algorithmic explainability rules.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BBF"/>
                </a:solidFill>
              </a:defRPr>
            </a:pPr>
            <a:r>
              <a:t>LUMINIX'26 HACKATHON • NEXORA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F6C"/>
                </a:solidFill>
              </a:defRPr>
            </a:pPr>
            <a:r>
              <a:t>6. Reinforcement Learning: Care Pathway Optimization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05BBF"/>
          </a:solidFill>
          <a:ln>
            <a:solidFill>
              <a:srgbClr val="005B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5BBF"/>
                </a:solidFill>
              </a:defRPr>
            </a:pPr>
            <a:r>
              <a:t>1. 6-Stage Care MDP</a:t>
            </a:r>
          </a:p>
          <a:p>
            <a:pPr>
              <a:defRPr sz="1250">
                <a:solidFill>
                  <a:srgbClr val="1B1B1F"/>
                </a:solidFill>
              </a:defRPr>
            </a:pPr>
            <a:r>
              <a:t>States: t0 Inpatient, t1 Discharge, t2 72h Follow-up, t3 Day-7, t4 Day-14, t5 Day-30 Outcome.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88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5BBF"/>
                </a:solidFill>
              </a:defRPr>
            </a:pPr>
            <a:r>
              <a:t>2. PPO Agent Policy</a:t>
            </a:r>
          </a:p>
          <a:p>
            <a:pPr>
              <a:defRPr sz="1250">
                <a:solidFill>
                  <a:srgbClr val="1B1B1F"/>
                </a:solidFill>
              </a:defRPr>
            </a:pPr>
            <a:r>
              <a:t>Trained with Proximal Policy Optimization to maximize reward (Readmission Averted: +100).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5BBF"/>
                </a:solidFill>
              </a:defRPr>
            </a:pPr>
            <a:r>
              <a:t>3. Deterministic Safety Guardrails</a:t>
            </a:r>
          </a:p>
          <a:p>
            <a:pPr>
              <a:defRPr sz="1250">
                <a:solidFill>
                  <a:srgbClr val="1B1B1F"/>
                </a:solidFill>
              </a:defRPr>
            </a:pPr>
            <a:r>
              <a:t>Hard safety constraints prevent unsafe suggestions. Clinician review is strictly required.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74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66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5BBF"/>
                </a:solidFill>
              </a:defRPr>
            </a:pPr>
            <a:r>
              <a:t>4. Digital Twin Simulator</a:t>
            </a:r>
          </a:p>
          <a:p>
            <a:pPr>
              <a:defRPr sz="1250">
                <a:solidFill>
                  <a:srgbClr val="1B1B1F"/>
                </a:solidFill>
              </a:defRPr>
            </a:pPr>
            <a:r>
              <a:t>Runs 'what-if' simulations comparing Standard Care (68% risk) vs RL Pathway (26% risk).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BBF"/>
                </a:solidFill>
              </a:defRPr>
            </a:pPr>
            <a:r>
              <a:t>LUMINIX'26 HACKATHON • NEXORA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F6C"/>
                </a:solidFill>
              </a:defRPr>
            </a:pPr>
            <a:r>
              <a:t>7. CareAI Copilot &amp; Bilingual Telemedicine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05BBF"/>
          </a:solidFill>
          <a:ln>
            <a:solidFill>
              <a:srgbClr val="005B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F6C"/>
                </a:solidFill>
              </a:defRPr>
            </a:pPr>
            <a:r>
              <a:t>Doctor Video Consultation &amp; WebRTC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Real-Time Video &amp; Audio: Encrypted clinician-to-patient telemedicine.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Dual Live Subtitles: Line-by-line synchronized English &amp; हिन्दी captioning.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Web Audio API Synthesis: Native ringtones, acoustic upload chords, click feedback.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Automated Progress Notes: Drafts clinical SOAP notes during consultation.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5BBF"/>
                </a:solidFill>
              </a:defRPr>
            </a:pPr>
            <a:r>
              <a:t>CareAI Conversational Healthcare Copilot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Risk Explanation in Hindi: Translates complex SHAP telemetry into conversational हिन्दी.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Medical Document Q&amp;A: Ingests lab reports and cites exact page/biomarker sources.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Discharge Instructions: Prepares patient-friendly medication checklists.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Human Oversight Disclaimer: Always marks outputs as assistive suggestions.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BBF"/>
                </a:solidFill>
              </a:defRPr>
            </a:pPr>
            <a:r>
              <a:t>LUMINIX'26 HACKATHON • NEXORA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F6C"/>
                </a:solidFill>
              </a:defRPr>
            </a:pPr>
            <a:r>
              <a:t>8. Medical Documents: OCR &amp; Digital Certificates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05BBF"/>
          </a:solidFill>
          <a:ln>
            <a:solidFill>
              <a:srgbClr val="005B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5BBF"/>
                </a:solidFill>
              </a:defRPr>
            </a:pPr>
            <a:r>
              <a:t>1. PDF Ingestion</a:t>
            </a:r>
          </a:p>
          <a:p>
            <a:br/>
            <a:pPr>
              <a:defRPr sz="1250">
                <a:solidFill>
                  <a:srgbClr val="5B5F64"/>
                </a:solidFill>
              </a:defRPr>
            </a:pPr>
            <a:r>
              <a:t>Upload laboratory panels, CBCs, and hospital discharge summaries.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5BBF"/>
                </a:solidFill>
              </a:defRPr>
            </a:pPr>
            <a:r>
              <a:t>2. Structured OCR Extraction</a:t>
            </a:r>
          </a:p>
          <a:p>
            <a:br/>
            <a:pPr>
              <a:defRPr sz="1250">
                <a:solidFill>
                  <a:srgbClr val="5B5F64"/>
                </a:solidFill>
              </a:defRPr>
            </a:pPr>
            <a:r>
              <a:t>Extracts Serum Creatinine, BUN, Hemoglobin, HbA1c, and reference ranges.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5BBF"/>
                </a:solidFill>
              </a:defRPr>
            </a:pPr>
            <a:r>
              <a:t>3. AI Biomarker Anomaly Detection</a:t>
            </a:r>
          </a:p>
          <a:p>
            <a:br/>
            <a:pPr>
              <a:defRPr sz="1250">
                <a:solidFill>
                  <a:srgbClr val="5B5F64"/>
                </a:solidFill>
              </a:defRPr>
            </a:pPr>
            <a:r>
              <a:t>Flags high/low values with visual severity tags (e.g. Creatinine 1.60 mg/dL HIGH).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5BBF"/>
                </a:solidFill>
              </a:defRPr>
            </a:pPr>
            <a:r>
              <a:t>4. Medical Leave Certificates</a:t>
            </a:r>
          </a:p>
          <a:p>
            <a:br/>
            <a:pPr>
              <a:defRPr sz="1250">
                <a:solidFill>
                  <a:srgbClr val="5B5F64"/>
                </a:solidFill>
              </a:defRPr>
            </a:pPr>
            <a:r>
              <a:t>Generates verifiable convalescence certificates with doctor digital signatures.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BBF"/>
                </a:solidFill>
              </a:defRPr>
            </a:pPr>
            <a:r>
              <a:t>LUMINIX'26 HACKATHON • NEXORA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F6C"/>
                </a:solidFill>
              </a:defRPr>
            </a:pPr>
            <a:r>
              <a:t>9. Digital Health ID &amp; Working QR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05BBF"/>
          </a:solidFill>
          <a:ln>
            <a:solidFill>
              <a:srgbClr val="005B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F6C"/>
                </a:solidFill>
              </a:defRPr>
            </a:pPr>
            <a:r>
              <a:t>Interactive 3D Digital Health ID Card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3D Flip Perspective: Front identity face + back verification face.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Verified Credential: Eleanor Vance (#HRP-2026-0001042), Level 3 verified.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Pure SVG QR Generator: Scalable vector QR without external internet dependencies.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Instant Lost ID Reporting: One-click token invalidation &amp; key regeneration.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5BBF"/>
                </a:solidFill>
              </a:defRPr>
            </a:pPr>
            <a:r>
              <a:t>Multi-Purpose Passes &amp; Scanner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In-Browser Camera Scanner: Animated laser scanner with instant verification.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Doctor Profile QR: Public check endpoint for clinician board certification.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Appointment Pass: Fast-track clinic check-in terminal pass.</a:t>
            </a:r>
          </a:p>
          <a:p>
            <a:pPr>
              <a:defRPr sz="1250">
                <a:solidFill>
                  <a:srgbClr val="5B5F64"/>
                </a:solidFill>
              </a:defRPr>
            </a:pPr>
            <a:r>
              <a:t>• Temporary Document Sharing: Auto-expiring access links (1h, 24h, 7d) with instant revocation.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BBF"/>
                </a:solidFill>
              </a:defRPr>
            </a:pPr>
            <a:r>
              <a:t>LUMINIX'26 HACKATHON • NEXORA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F6C"/>
                </a:solidFill>
              </a:defRPr>
            </a:pPr>
            <a:r>
              <a:t>10. Security &amp; HIPAA-Aligned Governance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05BBF"/>
          </a:solidFill>
          <a:ln>
            <a:solidFill>
              <a:srgbClr val="005B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5BBF"/>
                </a:solidFill>
              </a:defRPr>
            </a:pPr>
            <a:r>
              <a:t>🔒 4-Tier RBAC</a:t>
            </a:r>
          </a:p>
          <a:p>
            <a:pPr>
              <a:defRPr sz="1250">
                <a:solidFill>
                  <a:srgbClr val="1B1B1F"/>
                </a:solidFill>
              </a:defRPr>
            </a:pPr>
            <a:r>
              <a:t>Strict isolation between Patient, Doctor, Care Coordinator, and Administrator.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88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5BBF"/>
                </a:solidFill>
              </a:defRPr>
            </a:pPr>
            <a:r>
              <a:t>🔒 Multi-Factor Authentication</a:t>
            </a:r>
          </a:p>
          <a:p>
            <a:pPr>
              <a:defRPr sz="1250">
                <a:solidFill>
                  <a:srgbClr val="1B1B1F"/>
                </a:solidFill>
              </a:defRPr>
            </a:pPr>
            <a:r>
              <a:t>6-Digit Time-Based OTP (TOTP) and WebAuthn / FIDO2 Passkeys.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5BBF"/>
                </a:solidFill>
              </a:defRPr>
            </a:pPr>
            <a:r>
              <a:t>🔒 Break-Glass Protocol</a:t>
            </a:r>
          </a:p>
          <a:p>
            <a:pPr>
              <a:defRPr sz="1250">
                <a:solidFill>
                  <a:srgbClr val="1B1B1F"/>
                </a:solidFill>
              </a:defRPr>
            </a:pPr>
            <a:r>
              <a:t>Emergency access overrides with real-time audit alerts &amp; chief medical officer logging.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74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66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5BBF"/>
                </a:solidFill>
              </a:defRPr>
            </a:pPr>
            <a:r>
              <a:t>🔒 HIPAA Data Portability</a:t>
            </a:r>
          </a:p>
          <a:p>
            <a:pPr>
              <a:defRPr sz="1250">
                <a:solidFill>
                  <a:srgbClr val="1B1B1F"/>
                </a:solidFill>
              </a:defRPr>
            </a:pPr>
            <a:r>
              <a:t>One-click 'Download My Data' personal health JSON archive export.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BBF"/>
                </a:solidFill>
              </a:defRPr>
            </a:pPr>
            <a:r>
              <a:t>LUMINIX'26 HACKATHON • NEXORA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F6C"/>
                </a:solidFill>
              </a:defRPr>
            </a:pPr>
            <a:r>
              <a:t>11. Full-Stack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05BBF"/>
          </a:solidFill>
          <a:ln>
            <a:solidFill>
              <a:srgbClr val="005B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F6C"/>
                </a:solidFill>
              </a:defRPr>
            </a:pPr>
            <a:r>
              <a:t>⚙️ Frontend Presentation</a:t>
            </a:r>
          </a:p>
          <a:p>
            <a:pPr>
              <a:defRPr sz="1250">
                <a:solidFill>
                  <a:srgbClr val="005BBF"/>
                </a:solidFill>
              </a:defRPr>
            </a:pPr>
            <a:r>
              <a:t>Google Material 3, Tailwind CSS, Responsive Breakpoints, Web Audio API, i18n English/Hindi engine.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88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F6C"/>
                </a:solidFill>
              </a:defRPr>
            </a:pPr>
            <a:r>
              <a:t>⚙️ Application Backend</a:t>
            </a:r>
          </a:p>
          <a:p>
            <a:pPr>
              <a:defRPr sz="1250">
                <a:solidFill>
                  <a:srgbClr val="005BBF"/>
                </a:solidFill>
              </a:defRPr>
            </a:pPr>
            <a:r>
              <a:t>FastAPI (Async Python 3.11), Jinja2 Templates, Secure Session Store, Token Verification Engine.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F6C"/>
                </a:solidFill>
              </a:defRPr>
            </a:pPr>
            <a:r>
              <a:t>⚙️ AI &amp; Decision Core</a:t>
            </a:r>
          </a:p>
          <a:p>
            <a:pPr>
              <a:defRPr sz="1250">
                <a:solidFill>
                  <a:srgbClr val="005BBF"/>
                </a:solidFill>
              </a:defRPr>
            </a:pPr>
            <a:r>
              <a:t>PyTorch 2.4, Scikit-Learn, XGBoost v2.4.1, LightGBM, TreeSHAP, Stable-Baselines3 (PPO RL).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74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66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F6C"/>
                </a:solidFill>
              </a:defRPr>
            </a:pPr>
            <a:r>
              <a:t>⚙️ Security &amp; Documents</a:t>
            </a:r>
          </a:p>
          <a:p>
            <a:pPr>
              <a:defRPr sz="1250">
                <a:solidFill>
                  <a:srgbClr val="005BBF"/>
                </a:solidFill>
              </a:defRPr>
            </a:pPr>
            <a:r>
              <a:t>WebAuthn / Passkeys, Pure SVG QR Generator, OCR Engine, PDF Report Exporter.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BBF"/>
                </a:solidFill>
              </a:defRPr>
            </a:pPr>
            <a:r>
              <a:t>LUMINIX'26 HACKATHON • NEXORA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F6C"/>
                </a:solidFill>
              </a:defRPr>
            </a:pPr>
            <a:r>
              <a:t>12. Live Validation &amp; Automated Test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05BBF"/>
          </a:solidFill>
          <a:ln>
            <a:solidFill>
              <a:srgbClr val="005B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6C2E"/>
                </a:solidFill>
              </a:defRPr>
            </a:pPr>
            <a:r>
              <a:t>Automated Test Suite Status: 18 / 18 Tests Passing (100% Success)</a:t>
            </a:r>
          </a:p>
          <a:p>
            <a:pPr>
              <a:defRPr sz="1250">
                <a:solidFill>
                  <a:srgbClr val="1B1B1F"/>
                </a:solidFill>
              </a:defRPr>
            </a:pPr>
            <a:r>
              <a:t>✓ Model Inference Accuracy: Evaluates high-risk vs low-risk patient payloads with calibrated scores.</a:t>
            </a:r>
          </a:p>
          <a:p>
            <a:pPr>
              <a:defRPr sz="1250">
                <a:solidFill>
                  <a:srgbClr val="1B1B1F"/>
                </a:solidFill>
              </a:defRPr>
            </a:pPr>
            <a:r>
              <a:t>✓ Authentication &amp; MFA Security: Tests password hashing, 6-digit OTP verification, and RBAC authorization.</a:t>
            </a:r>
          </a:p>
          <a:p>
            <a:pPr>
              <a:defRPr sz="1250">
                <a:solidFill>
                  <a:srgbClr val="1B1B1F"/>
                </a:solidFill>
              </a:defRPr>
            </a:pPr>
            <a:r>
              <a:t>✓ Break-Glass Protocol: Simulates emergency access override with audit logging.</a:t>
            </a:r>
          </a:p>
          <a:p>
            <a:pPr>
              <a:defRPr sz="1250">
                <a:solidFill>
                  <a:srgbClr val="1B1B1F"/>
                </a:solidFill>
              </a:defRPr>
            </a:pPr>
            <a:r>
              <a:t>✓ Medical Document &amp; Lab OCR: Validates structured biomarker extraction and anomaly matching.</a:t>
            </a:r>
          </a:p>
          <a:p>
            <a:pPr>
              <a:defRPr sz="1250">
                <a:solidFill>
                  <a:srgbClr val="1B1B1F"/>
                </a:solidFill>
              </a:defRPr>
            </a:pPr>
            <a:r>
              <a:t>✓ Reinforcement Learning Policy: Verifies PPO care journey transitions and hard safety constraint enforcement.</a:t>
            </a:r>
          </a:p>
          <a:p>
            <a:pPr>
              <a:defRPr sz="1250">
                <a:solidFill>
                  <a:srgbClr val="1B1B1F"/>
                </a:solidFill>
              </a:defRPr>
            </a:pPr>
            <a:r>
              <a:t>✓ QR Token Lifecycle &amp; Rotation: Validates generation, public check, temporary sharing, and lost ID invalidation.</a:t>
            </a:r>
          </a:p>
          <a:p>
            <a:pPr>
              <a:defRPr sz="1250">
                <a:solidFill>
                  <a:srgbClr val="1B1B1F"/>
                </a:solidFill>
              </a:defRPr>
            </a:pPr>
            <a:r>
              <a:t>✓ Full Web Route Smoke Suite: Validates HTTP 200 across 55+ clinical, AI, and portal endpoints.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BBF"/>
                </a:solidFill>
              </a:defRPr>
            </a:pPr>
            <a:r>
              <a:t>LUMINIX'26 HACKATHON • NEXORA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F6C"/>
                </a:solidFill>
              </a:defRPr>
            </a:pPr>
            <a:r>
              <a:t>13. Clinical Impact &amp; Healthcare ROI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005BBF"/>
          </a:solidFill>
          <a:ln>
            <a:solidFill>
              <a:srgbClr val="005B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6C2E"/>
                </a:solidFill>
              </a:defRPr>
            </a:pPr>
            <a:r>
              <a:t>18.6% Reduction</a:t>
            </a:r>
          </a:p>
          <a:p>
            <a:br/>
            <a:pPr>
              <a:defRPr sz="1300">
                <a:solidFill>
                  <a:srgbClr val="5B5F64"/>
                </a:solidFill>
              </a:defRPr>
            </a:pPr>
            <a:r>
              <a:t>In preventable 30-day readmissions through proactive 72h follow-ups.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5BBF"/>
                </a:solidFill>
              </a:defRPr>
            </a:pPr>
            <a:r>
              <a:t>HRRP Penalty Avoidance</a:t>
            </a:r>
          </a:p>
          <a:p>
            <a:br/>
            <a:pPr>
              <a:defRPr sz="1300">
                <a:solidFill>
                  <a:srgbClr val="5B5F64"/>
                </a:solidFill>
              </a:defRPr>
            </a:pPr>
            <a:r>
              <a:t>Protects hospital Medicare reimbursement margins by keeping readmission rates 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B46400"/>
                </a:solidFill>
              </a:defRPr>
            </a:pPr>
            <a:r>
              <a:t>4.5h Faster Triage</a:t>
            </a:r>
          </a:p>
          <a:p>
            <a:br/>
            <a:pPr>
              <a:defRPr sz="1300">
                <a:solidFill>
                  <a:srgbClr val="5B5F64"/>
                </a:solidFill>
              </a:defRPr>
            </a:pPr>
            <a:r>
              <a:t>Accelerates clinical review with automated TreeSHAP driver attribution.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83296"/>
                </a:solidFill>
              </a:defRPr>
            </a:pPr>
            <a:r>
              <a:t>Higher Patient Trust</a:t>
            </a:r>
          </a:p>
          <a:p>
            <a:br/>
            <a:pPr>
              <a:defRPr sz="1300">
                <a:solidFill>
                  <a:srgbClr val="5B5F64"/>
                </a:solidFill>
              </a:defRPr>
            </a:pPr>
            <a:r>
              <a:t>Bilingual English/Hindi patient engagement and digital health passes.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14. Future Roadmap &amp; Hackathon Conclusion</a:t>
            </a:r>
          </a:p>
          <a:p>
            <a:pPr>
              <a:defRPr sz="1400" b="1">
                <a:solidFill>
                  <a:srgbClr val="22D3EE"/>
                </a:solidFill>
              </a:defRPr>
            </a:pPr>
            <a:r>
              <a:t>🚀 Phase 1: EHR FHIR Integration: Direct HL7 FHIR bidirectional pipeline with Epic &amp; Cerner hospital databases.</a:t>
            </a:r>
          </a:p>
          <a:p>
            <a:pPr>
              <a:defRPr sz="1400" b="1">
                <a:solidFill>
                  <a:srgbClr val="22D3EE"/>
                </a:solidFill>
              </a:defRPr>
            </a:pPr>
            <a:r>
              <a:t>🚀 Phase 2: Continuous Wearable IoT: Smartwatch vitals &amp; continuous glucose monitoring (CGM) telemetry stream.</a:t>
            </a:r>
          </a:p>
          <a:p>
            <a:pPr>
              <a:defRPr sz="1400" b="1">
                <a:solidFill>
                  <a:srgbClr val="22D3EE"/>
                </a:solidFill>
              </a:defRPr>
            </a:pPr>
            <a:r>
              <a:t>🚀 Phase 3: Federated Clinical Learning: Privacy-preserving multi-hospital collaborative model updates.</a:t>
            </a:r>
          </a:p>
          <a:p>
            <a:br/>
            <a:pPr>
              <a:defRPr sz="2400" b="1">
                <a:solidFill>
                  <a:srgbClr val="FFFFFF"/>
                </a:solidFill>
              </a:defRPr>
            </a:pPr>
            <a:r>
              <a:t>Thank You!  |  LUMINIX'26 Presentation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Team: Nexora Team   |   Leader: Ranjeet Kumar (rajranjeet7680@gmail.com)</a:t>
            </a:r>
            <a:br/>
            <a:r>
              <a:t>GitHub: https://github.com/Ranjeet7680/Hospital-Readmission-Predictor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