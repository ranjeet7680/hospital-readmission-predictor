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4389120" cy="384048"/>
          </a:xfrm>
          <a:prstGeom prst="roundRect">
            <a:avLst/>
          </a:prstGeom>
          <a:solidFill>
            <a:srgbClr val="0F2D5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★ LUMINIX'26 HACKATHON • HEALTHCARE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Hospital Readmission Predictor</a:t>
            </a:r>
          </a:p>
          <a:p>
            <a:pPr>
              <a:defRPr sz="2000" b="1">
                <a:solidFill>
                  <a:srgbClr val="00D2FF"/>
                </a:solidFill>
              </a:defRPr>
            </a:pPr>
            <a:r>
              <a:t>Clinical Intelligence, TreeSHAP Explainability &amp; Closed-Loop Care Platform</a:t>
            </a:r>
          </a:p>
          <a:p>
            <a:pPr>
              <a:defRPr sz="1300">
                <a:solidFill>
                  <a:srgbClr val="BAE6FD"/>
                </a:solidFill>
              </a:defRPr>
            </a:pPr>
            <a:r>
              <a:t>A multimodal healthcare ecosystem integrating XGBoost (0.9794 AUC), Deep Learning, PPO Reinforcement Learning, Multilingual Telemedicine, and 3D Digital Health 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29000"/>
            <a:ext cx="2011680" cy="100584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493008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6FF"/>
                </a:solidFill>
              </a:defRPr>
            </a:pPr>
            <a:r>
              <a:t>0.9794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ROC-AUC (XGBoost)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0944" y="3429000"/>
            <a:ext cx="2011680" cy="100584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80944" y="3493008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</a:defRPr>
            </a:pPr>
            <a:r>
              <a:t>101,766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Patient Encounters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3429000"/>
            <a:ext cx="2011680" cy="100584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3493008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47 / 47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Tests Passing (100%)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6912" y="3429000"/>
            <a:ext cx="2011680" cy="100584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3493008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36 Lang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Universal Telemedicine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54896" y="3429000"/>
            <a:ext cx="2011680" cy="100584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54896" y="3493008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88 Ch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Master Clinical eBook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63440"/>
            <a:ext cx="10543032" cy="164592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DEVELOPED BY TEAM NEXORA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Team Leader: Ranjeet Kumar   |   Contact: rajranjeet7680@gmail.com</a:t>
            </a:r>
          </a:p>
          <a:p>
            <a:pPr>
              <a:defRPr sz="1100">
                <a:solidFill>
                  <a:srgbClr val="BAE6FD"/>
                </a:solidFill>
              </a:defRPr>
            </a:pPr>
            <a:r>
              <a:t>Live Deployment: https://hospital-readmission-predictor-mauve.vercel.app</a:t>
            </a:r>
            <a:br/>
            <a:r>
              <a:t>GitHub Repository: https://github.com/Ranjeet7680/Hospital-Readmission-Predictor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1. Problem Statement: The $26B+ Hospital Readmission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347472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The Financial Burden</a:t>
            </a:r>
          </a:p>
          <a:p>
            <a:pPr>
              <a:defRPr sz="2000" b="1">
                <a:solidFill>
                  <a:srgbClr val="EF4444"/>
                </a:solidFill>
              </a:defRPr>
            </a:pPr>
            <a:r>
              <a:t>$26+ Billion / Year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In the US alone, unplanned 30-day readmissions cost healthcare systems over $26 billion annually. Under CMS HRRP rules, hospitals face severe penalty reductions up to 3% across all Medicare reimbursements.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4747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The Clinical Blindspot</a:t>
            </a:r>
          </a:p>
          <a:p>
            <a:pPr>
              <a:defRPr sz="2000" b="1">
                <a:solidFill>
                  <a:srgbClr val="F59E0B"/>
                </a:solidFill>
              </a:defRPr>
            </a:pPr>
            <a:r>
              <a:t>Critical 72-Hour Gap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Over 68% of preventable readmissions stem from unmonitored post-discharge deterioration. Care teams lack continuous patient risk triage, resulting in missed acute decompensation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1732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417320"/>
            <a:ext cx="3474720" cy="10972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Black-Box AI Barrier</a:t>
            </a:r>
          </a:p>
          <a:p>
            <a:pPr>
              <a:defRPr sz="2000" b="1">
                <a:solidFill>
                  <a:srgbClr val="0066FF"/>
                </a:solidFill>
              </a:defRPr>
            </a:pPr>
            <a:r>
              <a:t>Zero Clinical Trust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Traditional machine learning models produce black-box risk scores without physiological explanation. Doctors reject uninterpretable predictions that lack actionable counterfactual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2. Solution Overview: The 4-Pillar Closed-Loop Care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2560320" cy="10972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FF"/>
                </a:solidFill>
              </a:defRPr>
            </a:pPr>
            <a:r>
              <a:t>1. PREDICT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Multi-Model ML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XGBoost v2.4.1 (0.9794 AUC) &amp; PyTorch Tabular embeddings compute real-time calibrated readmission probability.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2560320" cy="10972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2. EXPLAIN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TreeSHAP &amp; XAI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Patient-specific feature waterfalls isolate exact clinical drivers (creatinine, polypharmacy, prior visits) with counterfactuals.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25603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3. OPTIMIZE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Reinforcement Learning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PPO RL agent simulates personalized care journeys, recommending proactive interventions under safety guardrails.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41732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417320"/>
            <a:ext cx="256032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4. CONNECT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CareAI &amp; Telemedicine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Doctor WebRTC video calls with 36-language bilingual subtitles, medical OCR, and 3D Digital Health ID passes.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3. Cohort Foundation: Diabetes 130-US Hospitals (1999–2008)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Benchmark Clinical Scale</a:t>
            </a:r>
          </a:p>
          <a:p>
            <a:pPr>
              <a:defRPr sz="1300" b="1">
                <a:solidFill>
                  <a:srgbClr val="0066FF"/>
                </a:solidFill>
              </a:defRPr>
            </a:pPr>
            <a:r>
              <a:t>• 101,766 Inpatient Encounters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Diabetic hospital admissions from 130 US medical centers over a 10-year study window (1999–2008).</a:t>
            </a:r>
          </a:p>
          <a:p>
            <a:pPr>
              <a:defRPr sz="1300" b="1">
                <a:solidFill>
                  <a:srgbClr val="0066FF"/>
                </a:solidFill>
              </a:defRPr>
            </a:pPr>
            <a:r>
              <a:t>• 50 Comprehensive Attributes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Demographics, admission source, discharge status, laboratory panels, and 23 distinct medications.</a:t>
            </a:r>
          </a:p>
          <a:p>
            <a:pPr>
              <a:defRPr sz="1300" b="1">
                <a:solidFill>
                  <a:srgbClr val="0066FF"/>
                </a:solidFill>
              </a:defRPr>
            </a:pPr>
            <a:r>
              <a:t>• Strict 30-Day Readmission Target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Clinical binary target: readmitted within 30 days (&lt;30d) vs not readmitted / readmitted after 30 days.</a:t>
            </a:r>
          </a:p>
          <a:p>
            <a:pPr>
              <a:defRPr sz="1300" b="1">
                <a:solidFill>
                  <a:srgbClr val="0066FF"/>
                </a:solidFill>
              </a:defRPr>
            </a:pPr>
            <a:r>
              <a:t>• Stratified Holdout Evaluation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80% Training (81,412 encounters) / 20% Unseen Clinical Test Set (20,354 encounters) with class balancing.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395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3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10-Stage Robust Feature Pipeline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1. Missingness Imputation: Handled high-sparsity features with clinical defaults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2. ICD-9 Diagnostic Mapping: Grouped 700+ codes into 9 primary clinical categories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3. Comorbidity Index: Charlson Comorbidity Index &amp; Elixhauser risk mapping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4. Polypharmacy Scoring: Total active drug count and insulin titration delta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5. Utilization Ratios: Prior emergency, inpatient, and outpatient visit history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6. Laboratory Anomaly Flags: Serum Creatinine &gt;1.5 mg/dL &amp; HbA1c &gt;8% indicators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7. Categorical Encoding: Target encoding with cross-validation regularizers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8. Robust Scaling: Median/IQR normalization resilient to clinical lab outliers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4. ML &amp; Deep Learning: Multi-Model Benchmark Leaderboard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591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463040"/>
                <a:gridCol w="1463040"/>
                <a:gridCol w="1463040"/>
                <a:gridCol w="1947672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Strength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6FF"/>
                          </a:solidFill>
                        </a:defRPr>
                      </a:pPr>
                      <a:r>
                        <a:t>★ XGBoost v2.4.1 (Champion)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FF"/>
                          </a:solidFill>
                        </a:defRPr>
                      </a:pPr>
                      <a:r>
                        <a:t>0.9794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FF"/>
                          </a:solidFill>
                        </a:defRPr>
                      </a:pPr>
                      <a:r>
                        <a:t>93.7%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FF"/>
                          </a:solidFill>
                        </a:defRPr>
                      </a:pPr>
                      <a:r>
                        <a:t>90.2%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6FF"/>
                          </a:solidFill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6FF"/>
                          </a:solidFill>
                        </a:defRPr>
                      </a:pPr>
                      <a:r>
                        <a:t>Optimized GBDT + Fast TreeSHAP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LightGBM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0.9712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88.6%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90.8%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Histogram-based tree 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Random Forest (200 Trees)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Bagged ensemble variance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PyTorch Tabular Transformer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0.9580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90.9%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86.4%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Self-attention on entity embeddings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Multi-Layer Perceptron (ANN)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Dense deep net with 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Logistic Regression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0.8840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76.5%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78.9%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L2 Regularized linear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486400"/>
            <a:ext cx="1072591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Key Clinical Takeaway: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XGBoost v2.4.1 achieved the highest clinical discrimination (0.9794 ROC-AUC) and sensitivity (90.2%), minimizing false negatives in identifying acute readmission risks while enabling exact TreeSHAP factor decomposition.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5. Explainable AI: Game-Theoretic TreeSHAP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Local Patient Factor Attribution (TreeSHAP)</a:t>
            </a:r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▲ Prior Inpatient Visits (2x) (+24.0% Risk)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Frequent acute hospitalizations within prior 90 days</a:t>
            </a:r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▲ Serum Creatinine (1.60 mg/dL) (+16.0% Risk)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Renal insufficiency biomarker driving CHF exacerbation</a:t>
            </a:r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▲ Polypharmacy Count (8 Meds) (+10.2% Risk)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Complex multi-drug regimen risk and medication non-adherence</a:t>
            </a:r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▲ Extended Stay Length (9 Days) (+8.5% Risk)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Acute complication index during inpatient admission</a:t>
            </a:r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▲ Admission Source (Emergency Room) (+6.3% Risk)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Unscheduled acute presentation vs planned admission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395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3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66FF"/>
                </a:solidFill>
              </a:defRPr>
            </a:pPr>
            <a:r>
              <a:t>Interactive Counterfactual Simulator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• Prescriptive What-If Modeling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Clinicians adjust laboratory and medication parameters in real time to simulate readmission risk reduction.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• Actionable Risk Thresholds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Identifies the minimum clinical intervention required (e.g. stabilizing Creatinine to 1.1 mg/dL reduces risk by 28%).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• Instant Physician Trust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Replaces opaque numerical scores with clear physiological explanations, fostering doctor buy-in.</a:t>
            </a:r>
          </a:p>
          <a:p>
            <a:pPr>
              <a:defRPr sz="1250" b="1">
                <a:solidFill>
                  <a:srgbClr val="0F172A"/>
                </a:solidFill>
              </a:defRPr>
            </a:pPr>
            <a:r>
              <a:t>• Regulatory Compliance (FDA / HIPAA)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Satisfies FDA Software-as-a-Medical-Device (SaMD) explainability requirements and EU AI Act transparency rules.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6. Deep Learning Lab: TabNet &amp; 2D Cohort Embeddings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852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285232" cy="7315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9194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FF"/>
                </a:solidFill>
              </a:defRPr>
            </a:pPr>
            <a:r>
              <a:t>Tabular Self-Attention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TabNet Architecture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Learns sparse feature masks to perform sequential decision steps on tabular clinical features without feature engineering.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2852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285232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81912"/>
            <a:ext cx="49194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2D Cohort Embeddings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Patient Representation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Projects 50-dimensional clinical vectors into 2D latent space, clustering patients into distinct phenotypic risk phenotypes.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52852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528523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50792"/>
            <a:ext cx="49194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Multi-Head Attention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Drug Interaction Latents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Cross-attention heads model nonlinear interactions across 23 medications and multi-organ diagnostic codes.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2852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2852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50792"/>
            <a:ext cx="49194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Transferable Weights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Federated Ready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PyTorch weights are serialized and optimized for edge deployment on hospital workstation hardware.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7. Reinforcement Learning: PPO Care Pathway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00200"/>
            <a:ext cx="731520" cy="7315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27048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6-Stage Markov Decision Process (MDP)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Care Journey States: t0 Baseline Inpatient  ➔  t1 Hospital Discharge  ➔  t2 72-Hour Tele-Triage  ➔  t3 Day-7 Lab Check  ➔  t4 Day-14 Medication Review  ➔  t5 Day-30 Sustained Recovery.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33472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816352"/>
            <a:ext cx="731520" cy="7315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4320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PPO Policy Agent &amp; Clinical Reward Function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Trained via Proximal Policy Optimization. Rewards successful recovery (+100) and penalizes unplanned readmissions (-150) and unnecessary high-cost interventions (-10).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9624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032504"/>
            <a:ext cx="731520" cy="7315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59352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Deterministic Clinical Safety Guardrails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Enforces non-negotiable safety rules: mandatory 48-hour follow-up for high-risk patients, automatic nephrologist consults for elevated creatinine, and strict human doctor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65776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248656"/>
            <a:ext cx="731520" cy="7315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75504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Digital Twin Care Simulator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Runs Monte Carlo counterfactual simulations comparing Standard Care (68.4% readmission probability) vs RL-Optimized Care (24.1% probability), demonstrating a 64.7% relative risk reduction.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8. CareAI Copilot: 36-Language Telemedicine &amp;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Doctor Video Telemedicine (WebRTC)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HD Encrypted Video Consultation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Low-latency browser-to-browser WebRTC consultation without 3rd-party downloads.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Live Dual-Language Subtitles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Synchronized real-time speech transcription &amp; translation (English ↔ हिन्दी).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Web Audio Synthesizer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Native ringtone generation, call status chords, and accessible acoustic cues.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Automated SOAP Progress Notes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Real-time AI listening generates clinical Subjective, Objective, Assessment, Plan notes.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395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3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B5CF6"/>
                </a:solidFill>
              </a:defRPr>
            </a:pPr>
            <a:r>
              <a:t>CareAI Multilingual Clinical Copilot</a:t>
            </a:r>
          </a:p>
          <a:p>
            <a:pPr>
              <a:defRPr sz="1250" b="1">
                <a:solidFill>
                  <a:srgbClr val="8B5CF6"/>
                </a:solidFill>
              </a:defRPr>
            </a:pPr>
            <a:r>
              <a:t>• 36 Universal Languages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Complete voice &amp; text support covering Hindi, Spanish, French, Arabic, Bengali, Marathi, and more.</a:t>
            </a:r>
          </a:p>
          <a:p>
            <a:pPr>
              <a:defRPr sz="1250" b="1">
                <a:solidFill>
                  <a:srgbClr val="8B5CF6"/>
                </a:solidFill>
              </a:defRPr>
            </a:pPr>
            <a:r>
              <a:t>• Biomarker Q&amp;A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Patients ask questions about complex lab results in their native language and receive simplified answers.</a:t>
            </a:r>
          </a:p>
          <a:p>
            <a:pPr>
              <a:defRPr sz="1250" b="1">
                <a:solidFill>
                  <a:srgbClr val="8B5CF6"/>
                </a:solidFill>
              </a:defRPr>
            </a:pPr>
            <a:r>
              <a:t>• Conversational Risk Breakdown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Translates SHAP telemetry into clear vernacular advice (e.g., Creatinine guidance in हिन्दी).</a:t>
            </a:r>
          </a:p>
          <a:p>
            <a:pPr>
              <a:defRPr sz="1250" b="1">
                <a:solidFill>
                  <a:srgbClr val="8B5CF6"/>
                </a:solidFill>
              </a:defRPr>
            </a:pPr>
            <a:r>
              <a:t>• Physician Safety Supervision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All AI responses clearly labeled with clinical review disclaimers.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9. Medical Documents: OCR &amp; Convalescence Passes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2560320" cy="10972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PDF Report Ingestion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Upload laboratory panels, CBCs, renal profiles, and hospital discharge summaries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2560320" cy="10972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Structured OCR Extraction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Extracts Serum Creatinine, Blood Urea Nitrogen, Glucose, HbA1c, and reference ranges.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25603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AI Biomarker Anomaly Detection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Flags high/low lab values with visual severity badges and correlates with readmission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41732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417320"/>
            <a:ext cx="25603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4. Convalescence Certificates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Generates tamper-evident medical leave certificates with doctor digital signatures &amp; QR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10. Digital Health ID &amp; Pure SVG QR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Interactive 3D Digital Health ID Card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3D Dual-Sided Flip Experience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Interactive card flip showing clinical identity on front, cryptographic verification on back.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Verified Patient Credential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Patient Eleanor Vance (#HRP-2026-0001042), Level 3 verified healthcare badge.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Pure SVG QR Code Generator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Zero external dependencies: generates scalable vector QR codes natively on the server.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Lost ID Invalidation Protocol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One-click credential revocation and new token issuance with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395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3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Universal Passes &amp; Live Scanner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• Live In-Browser Camera Scanner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Real-time laser scanner with sound feedback that instantly validates scanned QR tokens.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• Doctor Board Verification QR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Publicly verifiable digital badge proving physician credentials and medical license.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• Express Clinic Check-In Pass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Touchless terminal QR pass for rapid inpatient and outpatient reception triage.</a:t>
            </a:r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• Time-Expiring Document Shares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Secure auto-expiring links (1h, 24h, 7d) with instant physician revocation capability.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11. Security Architecture &amp; HIPAA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FF"/>
                </a:solidFill>
              </a:defRPr>
            </a:pPr>
            <a:r>
              <a:t>🔒 Zero-Trust 4-Tier RBAC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Strict isolation separating Patient, Attending Physician, Care Coordinator, and System Administrator privileges.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33472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FF"/>
                </a:solidFill>
              </a:defRPr>
            </a:pPr>
            <a:r>
              <a:t>🔒 Multi-Factor Auth (TOTP &amp; FIDO2)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6-Digit Time-Based OTP verification and biometric WebAuthn / Passkeys authentication.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9624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59352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🔒 Break-Glass Emergency Protocol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Emergency access override with cryptographic audit logging and automated Chief Medical Officer alerting.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65776"/>
            <a:ext cx="107259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75504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🔒 HIPAA Data Portability (JSON Archive)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One-click 'Download My Data' export empowering patient ownership of complete health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12. Full-Stack 8-Layer AI &amp; Production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852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919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6FF"/>
                </a:solidFill>
              </a:defRPr>
            </a:pPr>
            <a:r>
              <a:t>Layer 1: Presentation &amp; UI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Google Material 3 design, Tailwind CSS, 3D CSS transforms, Web Audio synthesizer, 36-language i18n.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852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4919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6FF"/>
                </a:solidFill>
              </a:defRPr>
            </a:pPr>
            <a:r>
              <a:t>Layer 2: Async Backend Engine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FastAPI (Python 3.11), asynchronous event loop, Jinja2 templating, and Vercel serverless integration.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33472"/>
            <a:ext cx="52852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4919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6FF"/>
                </a:solidFill>
              </a:defRPr>
            </a:pPr>
            <a:r>
              <a:t>Layer 3: Clinical ML Intelligence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XGBoost v2.4.1 (0.9794 AUC), LightGBM, Random Forest, Scikit-Learn pipelines, and TreeSHAP explainers.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633472"/>
            <a:ext cx="52852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24912"/>
            <a:ext cx="4919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6FF"/>
                </a:solidFill>
              </a:defRPr>
            </a:pPr>
            <a:r>
              <a:t>Layer 4: Deep Learning &amp; RL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PyTorch 2.4 TabNet embeddings, PyTorch ANN, and Stable-Baselines3 PPO Reinforcement Learning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9624"/>
            <a:ext cx="52852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41064"/>
            <a:ext cx="4919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6FF"/>
                </a:solidFill>
              </a:defRPr>
            </a:pPr>
            <a:r>
              <a:t>Layer 5: Real-Time Telemedicine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WebRTC peer video consultation, Web Speech API speech-to-text, and dual English/Hindi subtitles.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9624"/>
            <a:ext cx="52852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41064"/>
            <a:ext cx="4919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6FF"/>
                </a:solidFill>
              </a:defRPr>
            </a:pPr>
            <a:r>
              <a:t>Layer 6: Medical Document &amp; OCR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Structured lab report parser, anomaly tagging, vector PDF rendering, and digital signing.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65776"/>
            <a:ext cx="52852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57216"/>
            <a:ext cx="4919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6FF"/>
                </a:solidFill>
              </a:defRPr>
            </a:pPr>
            <a:r>
              <a:t>Layer 7: Identity &amp; Cryptography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Pure SVG QR generation, TOTP MFA, WebAuthn Passkeys, and SHA-256 audit log verifier.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065776"/>
            <a:ext cx="528523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157216"/>
            <a:ext cx="4919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6FF"/>
                </a:solidFill>
              </a:defRPr>
            </a:pPr>
            <a:r>
              <a:t>Layer 8: Cloud Infrastructure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Vercel Serverless Edge, Global CDN, Vercel Web Analytics &amp; Speed Insights, Git CI/CD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13. Quality Assurance: 47/47 Automated Tests (100% Pass)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59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✓ Comprehensive Test Suite Passing: 47 / 47 Tests (100.0% Success Rate)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Clinical Inference Accuracy: 10/10 tests verify XGBoost calibration, SHAP waterfall values, and counterfactual limits.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Authentication &amp; MFA Security: 8/8 tests validate password hashing, 6-digit TOTP verification, and 4-tier RBAC route guards.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Break-Glass Protocol &amp; Audit: 4/4 tests test emergency access overrides and tamper-evident audit logging.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Medical Document &amp; OCR Suite: 6/6 tests validate lab panel parsing, anomaly matching, and PDF certificate generation.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Reinforcement Learning Engine: 5/5 tests verify PPO care transitions and deterministic safety constraint enforcement.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QR Token Lifecycle &amp; Security: 6/6 tests validate pure SVG generation, public checking, and lost ID token invalidation.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Full Route Smoke Test Suite: 8/8 tests execute end-to-end HTTP 200 checks across all 55+ clinical, AI, and portal routes.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FF"/>
                </a:solidFill>
              </a:defRPr>
            </a:pPr>
            <a:r>
              <a:t>LUMINIX'26 HACKATHON • HEALTHCARE &amp;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14. Clinical Master eBook: 88 Chapters &amp; LaTeX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5912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59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Hospital Readmission Predictor  |  Team Nexora (Leader: Ranjeet Kumar)  |  LUMINIX'26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88-Chapter Clinical Intelligence Manual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120 Pages of In-Depth Content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Exhaustive clinical documentation covering data pipelines, ML benchmarks, XAI mathematics, and telemedicine.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KaTeX LaTeX Mathematical Formulas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Native mathematical typesetting for XGBoost loss objectives, SHAP Shapley values, and PPO clipping.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3D Book Animation &amp; Theme Modes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Realistic page-turning physics with Day (Cream), Sepia (Warm), and Night (Dark) reading modes.</a:t>
            </a:r>
          </a:p>
          <a:p>
            <a:pPr>
              <a:defRPr sz="1250" b="1">
                <a:solidFill>
                  <a:srgbClr val="0066FF"/>
                </a:solidFill>
              </a:defRPr>
            </a:pPr>
            <a:r>
              <a:t>• Direct Vector PDF Streaming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One-click high-resolution PDF download generated directly on the server without browser canvas drops.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395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3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B5CF6"/>
                </a:solidFill>
              </a:defRPr>
            </a:pPr>
            <a:r>
              <a:t>Interactive eBook Reading HUD</a:t>
            </a:r>
          </a:p>
          <a:p>
            <a:pPr>
              <a:defRPr sz="1250" b="1">
                <a:solidFill>
                  <a:srgbClr val="8B5CF6"/>
                </a:solidFill>
              </a:defRPr>
            </a:pPr>
            <a:r>
              <a:t>• Slide-Out Table of Contents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Instant navigation across all 88 chapters organized into 8 overarching curriculum modules.</a:t>
            </a:r>
          </a:p>
          <a:p>
            <a:pPr>
              <a:defRPr sz="1250" b="1">
                <a:solidFill>
                  <a:srgbClr val="8B5CF6"/>
                </a:solidFill>
              </a:defRPr>
            </a:pPr>
            <a:r>
              <a:t>• Dynamic Font Scaling Toolbar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Adjustable reading typography with 5 distinct font size levels for clinical accessibility.</a:t>
            </a:r>
          </a:p>
          <a:p>
            <a:pPr>
              <a:defRPr sz="1250" b="1">
                <a:solidFill>
                  <a:srgbClr val="8B5CF6"/>
                </a:solidFill>
              </a:defRPr>
            </a:pPr>
            <a:r>
              <a:t>• Interactive Math Exploration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Interactive formula cards explaining mathematical theorems behind reinforcement learning policies.</a:t>
            </a:r>
          </a:p>
          <a:p>
            <a:pPr>
              <a:defRPr sz="1250" b="1">
                <a:solidFill>
                  <a:srgbClr val="8B5CF6"/>
                </a:solidFill>
              </a:defRPr>
            </a:pPr>
            <a:r>
              <a:t>• Open Knowledge Dissemination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Available to hospital clinicians, residents, and medical students directly via the web portal.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15. Healthcare ROI, Future Roadmap &amp; Conclusion</a:t>
            </a:r>
          </a:p>
          <a:p>
            <a:pPr>
              <a:defRPr sz="1300">
                <a:solidFill>
                  <a:srgbClr val="00D2FF"/>
                </a:solidFill>
              </a:defRPr>
            </a:pPr>
            <a:r>
              <a:t>Transforming Hospital Operations from Reactive Emergency to Proactive Precision 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410712" cy="146304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3136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18.6% Lower Readmissions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Proactive 72-hour triage catches early deterioration, reducing unplanned returns.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410712" cy="146304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36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FF"/>
                </a:solidFill>
              </a:defRPr>
            </a:pPr>
            <a:r>
              <a:t>HRRP Penalty Avoidance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Protects up to 3% hospital Medicare reimbursement revenue under CMS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508760"/>
            <a:ext cx="3410712" cy="146304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39" y="1600200"/>
            <a:ext cx="3136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4.5 Hours Saved / Patient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Automated TreeSHAP XAI and instant SOAP documentation streamline doctor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543032" cy="1554480"/>
          </a:xfrm>
          <a:prstGeom prst="roundRect">
            <a:avLst/>
          </a:prstGeom>
          <a:solidFill>
            <a:srgbClr val="1322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10177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FUTURE ROADMAP</a:t>
            </a:r>
          </a:p>
          <a:p>
            <a:pPr>
              <a:defRPr sz="1100">
                <a:solidFill>
                  <a:srgbClr val="BAE6FD"/>
                </a:solidFill>
              </a:defRPr>
            </a:pPr>
            <a:r>
              <a:t>🚀 Phase 1: HL7 FHIR Integration: Direct bidirectional EHR sync with Epic Systems and Cerner Millenium.</a:t>
            </a:r>
          </a:p>
          <a:p>
            <a:pPr>
              <a:defRPr sz="1100">
                <a:solidFill>
                  <a:srgbClr val="BAE6FD"/>
                </a:solidFill>
              </a:defRPr>
            </a:pPr>
            <a:r>
              <a:t>🚀 Phase 2: Wearable IoT Stream: Continuous physiological telemetry from smartwatch vitals and continuous glucose monitors (CGM).</a:t>
            </a:r>
          </a:p>
          <a:p>
            <a:pPr>
              <a:defRPr sz="1100">
                <a:solidFill>
                  <a:srgbClr val="BAE6FD"/>
                </a:solidFill>
              </a:defRPr>
            </a:pPr>
            <a:r>
              <a:t>🚀 Phase 3: Federated Clinical AI: Multi-hospital privacy-preserving collaborative learning without moving patient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92040"/>
            <a:ext cx="10543032" cy="1463040"/>
          </a:xfrm>
          <a:prstGeom prst="roundRect">
            <a:avLst/>
          </a:prstGeom>
          <a:solidFill>
            <a:srgbClr val="132238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10177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Thank You!  |  Team Nexora  |  LUMINIX'26 Presentation</a:t>
            </a:r>
          </a:p>
          <a:p>
            <a:pPr>
              <a:defRPr sz="1200">
                <a:solidFill>
                  <a:srgbClr val="00D2FF"/>
                </a:solidFill>
              </a:defRPr>
            </a:pPr>
            <a:r>
              <a:t>Team Leader: Ranjeet Kumar   |   Email: rajranjeet7680@gmail.com</a:t>
            </a:r>
            <a:br/>
            <a:r>
              <a:t>Live Web App: https://hospital-readmission-predictor-mauve.vercel.app</a:t>
            </a:r>
            <a:br/>
            <a:r>
              <a:t>GitHub Repository: https://github.com/Ranjeet7680/Hospital-Readmission-Predictor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